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63" r:id="rId15"/>
    <p:sldId id="264" r:id="rId16"/>
    <p:sldId id="265" r:id="rId17"/>
  </p:sldIdLst>
  <p:sldSz cx="14630400" cy="8229600"/>
  <p:notesSz cx="6858000" cy="9144000"/>
  <p:embeddedFontLst>
    <p:embeddedFont>
      <p:font typeface="Arial Bold Italics" panose="020B0604020202020204" charset="0"/>
      <p:regular r:id="rId18"/>
    </p:embeddedFont>
    <p:embeddedFont>
      <p:font typeface="IBM Plex Sans" panose="020B0503050203000203" pitchFamily="34" charset="0"/>
      <p:regular r:id="rId19"/>
    </p:embeddedFont>
    <p:embeddedFont>
      <p:font typeface="Open Sans" panose="020B0606030504020204" pitchFamily="3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3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3.sv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3.svg"/><Relationship Id="rId9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3.sv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25.jpe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3.svg"/><Relationship Id="rId9" Type="http://schemas.openxmlformats.org/officeDocument/2006/relationships/image" Target="../media/image30.pn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3.sv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50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11723" y="35169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990600" y="3384513"/>
            <a:ext cx="13106400" cy="1808150"/>
          </a:xfrm>
          <a:custGeom>
            <a:avLst/>
            <a:gdLst/>
            <a:ahLst/>
            <a:cxnLst/>
            <a:rect l="l" t="t" r="r" b="b"/>
            <a:pathLst>
              <a:path w="1461516" h="426720">
                <a:moveTo>
                  <a:pt x="0" y="0"/>
                </a:moveTo>
                <a:lnTo>
                  <a:pt x="1461516" y="0"/>
                </a:lnTo>
                <a:lnTo>
                  <a:pt x="1461516" y="426720"/>
                </a:lnTo>
                <a:lnTo>
                  <a:pt x="0" y="426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sz="3200" spc="7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</a:t>
            </a:r>
          </a:p>
          <a:p>
            <a:r>
              <a:rPr lang="en-US" sz="3200" spc="7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</a:t>
            </a:r>
            <a:r>
              <a:rPr lang="en-US" sz="6000" b="1" spc="7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TECH TITANS</a:t>
            </a:r>
            <a:endParaRPr lang="en-IN" sz="3200" b="1" dirty="0"/>
          </a:p>
        </p:txBody>
      </p:sp>
      <p:sp>
        <p:nvSpPr>
          <p:cNvPr id="6" name="TextBox 6"/>
          <p:cNvSpPr txBox="1"/>
          <p:nvPr/>
        </p:nvSpPr>
        <p:spPr>
          <a:xfrm>
            <a:off x="457200" y="387086"/>
            <a:ext cx="13944600" cy="2428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18"/>
              </a:lnSpc>
            </a:pPr>
            <a:r>
              <a:rPr lang="en-US" sz="4656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Offroad Terrain Segmentation Using Deep Learning </a:t>
            </a:r>
          </a:p>
          <a:p>
            <a:pPr algn="l">
              <a:lnSpc>
                <a:spcPts val="6518"/>
              </a:lnSpc>
            </a:pPr>
            <a:endParaRPr lang="en-US" sz="4656" b="1" i="1" dirty="0">
              <a:solidFill>
                <a:srgbClr val="000000"/>
              </a:solidFill>
              <a:latin typeface="Arial Bold Italics"/>
              <a:ea typeface="Arial Bold Italics"/>
              <a:cs typeface="Arial Bold Italics"/>
              <a:sym typeface="Arial Bold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59912" y="4049849"/>
            <a:ext cx="63865" cy="477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6"/>
              </a:lnSpc>
            </a:pPr>
            <a:r>
              <a:rPr lang="en-US" sz="1754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9173" y="2700379"/>
            <a:ext cx="10302531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Pixel-</a:t>
            </a:r>
            <a:r>
              <a:rPr lang="en-US" spc="8" dirty="0" err="1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LevelSceneUnderstanding</a:t>
            </a:r>
            <a:r>
              <a:rPr lang="en-US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for Autonomous Offroad Navigation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004" y="5531091"/>
            <a:ext cx="3800799" cy="61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52"/>
              </a:lnSpc>
            </a:pPr>
            <a:r>
              <a:rPr lang="en-US" sz="1752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• Saunak Sharma </a:t>
            </a:r>
          </a:p>
          <a:p>
            <a:pPr algn="l">
              <a:lnSpc>
                <a:spcPts val="2452"/>
              </a:lnSpc>
            </a:pPr>
            <a:r>
              <a:rPr lang="en-US" sz="1752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• Prashant Dwivedi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64372" y="2393587"/>
            <a:ext cx="8433816" cy="5059680"/>
            <a:chOff x="0" y="0"/>
            <a:chExt cx="11245088" cy="67462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45088" cy="6746240"/>
            </a:xfrm>
            <a:custGeom>
              <a:avLst/>
              <a:gdLst/>
              <a:ahLst/>
              <a:cxnLst/>
              <a:rect l="l" t="t" r="r" b="b"/>
              <a:pathLst>
                <a:path w="11245088" h="6746240">
                  <a:moveTo>
                    <a:pt x="0" y="0"/>
                  </a:moveTo>
                  <a:lnTo>
                    <a:pt x="11245088" y="0"/>
                  </a:lnTo>
                  <a:lnTo>
                    <a:pt x="11245088" y="6746240"/>
                  </a:lnTo>
                  <a:lnTo>
                    <a:pt x="0" y="674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96468" y="833047"/>
            <a:ext cx="11067517" cy="709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4104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Challenge of Unstructured Environments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24946" y="2127342"/>
            <a:ext cx="4425039" cy="204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05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Why Offroad Segmentation Matters</a:t>
            </a:r>
          </a:p>
          <a:p>
            <a:pPr algn="l">
              <a:lnSpc>
                <a:spcPts val="2399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Traditional navigation systems fail in offroad environments. These terrains lack the structured cues vehicles rely on—no lane markings, no clear boundaries, just raw unpredictability.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24946" y="4171293"/>
            <a:ext cx="112900" cy="42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1547" spc="9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67846" y="4171293"/>
            <a:ext cx="3906488" cy="1951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1547" spc="9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Highly unstructured terrain with irregular </a:t>
            </a:r>
          </a:p>
          <a:p>
            <a:pPr algn="l">
              <a:lnSpc>
                <a:spcPts val="927"/>
              </a:lnSpc>
            </a:pPr>
            <a:r>
              <a:rPr lang="en-US" sz="155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surfaces</a:t>
            </a:r>
          </a:p>
          <a:p>
            <a:pPr algn="l">
              <a:lnSpc>
                <a:spcPts val="3869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Dynamic obstacles including rocks, </a:t>
            </a:r>
          </a:p>
          <a:p>
            <a:pPr algn="l">
              <a:lnSpc>
                <a:spcPts val="930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vegetation, and elevation changes</a:t>
            </a:r>
          </a:p>
          <a:p>
            <a:pPr algn="l">
              <a:lnSpc>
                <a:spcPts val="3869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High visual ambiguity under varying </a:t>
            </a:r>
          </a:p>
          <a:p>
            <a:pPr algn="l">
              <a:lnSpc>
                <a:spcPts val="930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lighting and weather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24946" y="4781274"/>
            <a:ext cx="112900" cy="42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24946" y="5390874"/>
            <a:ext cx="112900" cy="42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24946" y="6122013"/>
            <a:ext cx="4222318" cy="73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Our Goal:Enable autonomous systems to </a:t>
            </a:r>
          </a:p>
          <a:p>
            <a:pPr algn="l">
              <a:lnSpc>
                <a:spcPts val="930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understand offroad scenes at the pixel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27453" y="2755897"/>
            <a:ext cx="4330189" cy="2935729"/>
          </a:xfrm>
          <a:custGeom>
            <a:avLst/>
            <a:gdLst/>
            <a:ahLst/>
            <a:cxnLst/>
            <a:rect l="l" t="t" r="r" b="b"/>
            <a:pathLst>
              <a:path w="4330189" h="2935729">
                <a:moveTo>
                  <a:pt x="0" y="0"/>
                </a:moveTo>
                <a:lnTo>
                  <a:pt x="4330189" y="0"/>
                </a:lnTo>
                <a:lnTo>
                  <a:pt x="4330189" y="2935729"/>
                </a:lnTo>
                <a:lnTo>
                  <a:pt x="0" y="29357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150101" y="2755897"/>
            <a:ext cx="4331713" cy="2935729"/>
          </a:xfrm>
          <a:custGeom>
            <a:avLst/>
            <a:gdLst/>
            <a:ahLst/>
            <a:cxnLst/>
            <a:rect l="l" t="t" r="r" b="b"/>
            <a:pathLst>
              <a:path w="4331713" h="2935729">
                <a:moveTo>
                  <a:pt x="0" y="0"/>
                </a:moveTo>
                <a:lnTo>
                  <a:pt x="4331713" y="0"/>
                </a:lnTo>
                <a:lnTo>
                  <a:pt x="4331713" y="2935729"/>
                </a:lnTo>
                <a:lnTo>
                  <a:pt x="0" y="293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74273" y="2755897"/>
            <a:ext cx="4330189" cy="2935729"/>
          </a:xfrm>
          <a:custGeom>
            <a:avLst/>
            <a:gdLst/>
            <a:ahLst/>
            <a:cxnLst/>
            <a:rect l="l" t="t" r="r" b="b"/>
            <a:pathLst>
              <a:path w="4330189" h="2935729">
                <a:moveTo>
                  <a:pt x="0" y="0"/>
                </a:moveTo>
                <a:lnTo>
                  <a:pt x="4330189" y="0"/>
                </a:lnTo>
                <a:lnTo>
                  <a:pt x="4330189" y="2935729"/>
                </a:lnTo>
                <a:lnTo>
                  <a:pt x="0" y="29357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94004" y="1453191"/>
            <a:ext cx="5370947" cy="82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8"/>
              </a:lnSpc>
            </a:pPr>
            <a:r>
              <a:rPr lang="en-US" sz="4656" spc="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395" y="2969857"/>
            <a:ext cx="3752459" cy="201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 spc="32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Pixel-Level Classification</a:t>
            </a:r>
          </a:p>
          <a:p>
            <a:pPr algn="l">
              <a:lnSpc>
                <a:spcPts val="2897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Assign semantic meaning to every pixel in an image, creating dense scene understanding beyond object detection.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51986" y="2998432"/>
            <a:ext cx="3505991" cy="236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04" spc="1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Multi-Class Terrain Recognition</a:t>
            </a:r>
          </a:p>
          <a:p>
            <a:pPr algn="l">
              <a:lnSpc>
                <a:spcPts val="2899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Distinguish between vegetation, rocks, sky, landscape, and background with high precision across diverse conditions.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75520" y="2998432"/>
            <a:ext cx="3783549" cy="236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04" spc="25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Generalization to Unseen Data</a:t>
            </a:r>
          </a:p>
          <a:p>
            <a:pPr algn="l">
              <a:lnSpc>
                <a:spcPts val="2899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Build a robust model that performs reliably on new offroad environments not encountered during training.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004" y="5731373"/>
            <a:ext cx="12187657" cy="84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0"/>
              </a:lnSpc>
            </a:pPr>
            <a:r>
              <a:rPr lang="en-US" sz="1752" spc="1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We aimed to develop a deep learning–based semantic segmentation system capable of real-world deployment in </a:t>
            </a:r>
          </a:p>
          <a:p>
            <a:pPr algn="l">
              <a:lnSpc>
                <a:spcPts val="1427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autonomous offroad navigation scenarios.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51332" y="2281428"/>
            <a:ext cx="8349996" cy="4430268"/>
            <a:chOff x="0" y="0"/>
            <a:chExt cx="11133328" cy="59070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133328" cy="5907024"/>
            </a:xfrm>
            <a:custGeom>
              <a:avLst/>
              <a:gdLst/>
              <a:ahLst/>
              <a:cxnLst/>
              <a:rect l="l" t="t" r="r" b="b"/>
              <a:pathLst>
                <a:path w="11133328" h="5907024">
                  <a:moveTo>
                    <a:pt x="0" y="0"/>
                  </a:moveTo>
                  <a:lnTo>
                    <a:pt x="11133328" y="0"/>
                  </a:lnTo>
                  <a:lnTo>
                    <a:pt x="11133328" y="5907024"/>
                  </a:lnTo>
                  <a:lnTo>
                    <a:pt x="0" y="5907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340864" y="6742176"/>
            <a:ext cx="214884" cy="214884"/>
          </a:xfrm>
          <a:custGeom>
            <a:avLst/>
            <a:gdLst/>
            <a:ahLst/>
            <a:cxnLst/>
            <a:rect l="l" t="t" r="r" b="b"/>
            <a:pathLst>
              <a:path w="214884" h="214884">
                <a:moveTo>
                  <a:pt x="0" y="0"/>
                </a:moveTo>
                <a:lnTo>
                  <a:pt x="214884" y="0"/>
                </a:lnTo>
                <a:lnTo>
                  <a:pt x="214884" y="214884"/>
                </a:lnTo>
                <a:lnTo>
                  <a:pt x="0" y="214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93108" y="6742176"/>
            <a:ext cx="214884" cy="214884"/>
          </a:xfrm>
          <a:custGeom>
            <a:avLst/>
            <a:gdLst/>
            <a:ahLst/>
            <a:cxnLst/>
            <a:rect l="l" t="t" r="r" b="b"/>
            <a:pathLst>
              <a:path w="214884" h="214884">
                <a:moveTo>
                  <a:pt x="0" y="0"/>
                </a:moveTo>
                <a:lnTo>
                  <a:pt x="214884" y="0"/>
                </a:lnTo>
                <a:lnTo>
                  <a:pt x="214884" y="214884"/>
                </a:lnTo>
                <a:lnTo>
                  <a:pt x="0" y="2148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419088" y="6742176"/>
            <a:ext cx="214884" cy="214884"/>
          </a:xfrm>
          <a:custGeom>
            <a:avLst/>
            <a:gdLst/>
            <a:ahLst/>
            <a:cxnLst/>
            <a:rect l="l" t="t" r="r" b="b"/>
            <a:pathLst>
              <a:path w="214884" h="214884">
                <a:moveTo>
                  <a:pt x="0" y="0"/>
                </a:moveTo>
                <a:lnTo>
                  <a:pt x="214884" y="0"/>
                </a:lnTo>
                <a:lnTo>
                  <a:pt x="214884" y="214884"/>
                </a:lnTo>
                <a:lnTo>
                  <a:pt x="0" y="2148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51332" y="536438"/>
            <a:ext cx="4614729" cy="765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spc="4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16451" y="6664395"/>
            <a:ext cx="827827" cy="29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Training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68952" y="6664395"/>
            <a:ext cx="996867" cy="29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Validation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95570" y="6664395"/>
            <a:ext cx="446199" cy="29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3204" y="2449268"/>
            <a:ext cx="4314606" cy="130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8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Our dataset consists of RGB offroad images paired with pixel-wise annotated segmentation masks. Each pixel is labeled with its corresponding terrain class.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33204" y="4160720"/>
            <a:ext cx="4129907" cy="3146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3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Total Dataset:4,176 annotated images Classes:Background, vegetation, rocks, </a:t>
            </a:r>
          </a:p>
          <a:p>
            <a:pPr algn="l">
              <a:lnSpc>
                <a:spcPts val="1177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landscape, sky, and additional terrain </a:t>
            </a:r>
          </a:p>
          <a:p>
            <a:pPr algn="l">
              <a:lnSpc>
                <a:spcPts val="4085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features The split ensures robust training while </a:t>
            </a:r>
          </a:p>
          <a:p>
            <a:pPr algn="l">
              <a:lnSpc>
                <a:spcPts val="1043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maintaining sufficient validation and test </a:t>
            </a:r>
          </a:p>
          <a:p>
            <a:pPr algn="l">
              <a:lnSpc>
                <a:spcPts val="4139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 for reliable performance evaluation </a:t>
            </a:r>
          </a:p>
          <a:p>
            <a:pPr algn="l">
              <a:lnSpc>
                <a:spcPts val="1073"/>
              </a:lnSpc>
            </a:pPr>
            <a:r>
              <a:rPr lang="en-US" sz="1655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on unseen environments.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33204" y="1832667"/>
            <a:ext cx="2812266" cy="381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5" spc="4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 Composition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05533" y="5169913"/>
            <a:ext cx="4462777" cy="1611373"/>
          </a:xfrm>
          <a:custGeom>
            <a:avLst/>
            <a:gdLst/>
            <a:ahLst/>
            <a:cxnLst/>
            <a:rect l="l" t="t" r="r" b="b"/>
            <a:pathLst>
              <a:path w="4462777" h="1611373">
                <a:moveTo>
                  <a:pt x="0" y="0"/>
                </a:moveTo>
                <a:lnTo>
                  <a:pt x="4462777" y="0"/>
                </a:lnTo>
                <a:lnTo>
                  <a:pt x="4462777" y="1611373"/>
                </a:lnTo>
                <a:lnTo>
                  <a:pt x="0" y="16113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78473" y="5169913"/>
            <a:ext cx="4462777" cy="1611373"/>
          </a:xfrm>
          <a:custGeom>
            <a:avLst/>
            <a:gdLst/>
            <a:ahLst/>
            <a:cxnLst/>
            <a:rect l="l" t="t" r="r" b="b"/>
            <a:pathLst>
              <a:path w="4462777" h="1611373">
                <a:moveTo>
                  <a:pt x="0" y="0"/>
                </a:moveTo>
                <a:lnTo>
                  <a:pt x="4462777" y="0"/>
                </a:lnTo>
                <a:lnTo>
                  <a:pt x="4462777" y="1611373"/>
                </a:lnTo>
                <a:lnTo>
                  <a:pt x="0" y="16113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421880" y="2432304"/>
            <a:ext cx="6665976" cy="2616708"/>
          </a:xfrm>
          <a:custGeom>
            <a:avLst/>
            <a:gdLst/>
            <a:ahLst/>
            <a:cxnLst/>
            <a:rect l="l" t="t" r="r" b="b"/>
            <a:pathLst>
              <a:path w="6665976" h="2616708">
                <a:moveTo>
                  <a:pt x="0" y="0"/>
                </a:moveTo>
                <a:lnTo>
                  <a:pt x="6665976" y="0"/>
                </a:lnTo>
                <a:lnTo>
                  <a:pt x="6665976" y="2616708"/>
                </a:lnTo>
                <a:lnTo>
                  <a:pt x="0" y="26167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551413" y="5169913"/>
            <a:ext cx="4462777" cy="1611373"/>
          </a:xfrm>
          <a:custGeom>
            <a:avLst/>
            <a:gdLst/>
            <a:ahLst/>
            <a:cxnLst/>
            <a:rect l="l" t="t" r="r" b="b"/>
            <a:pathLst>
              <a:path w="4462777" h="1611373">
                <a:moveTo>
                  <a:pt x="0" y="0"/>
                </a:moveTo>
                <a:lnTo>
                  <a:pt x="4462777" y="0"/>
                </a:lnTo>
                <a:lnTo>
                  <a:pt x="4462777" y="1611373"/>
                </a:lnTo>
                <a:lnTo>
                  <a:pt x="0" y="16113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92506" y="1549051"/>
            <a:ext cx="12180675" cy="53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3"/>
              </a:lnSpc>
            </a:pPr>
            <a:r>
              <a:rPr lang="en-US" sz="405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 Architecture: DINOv2 + Segmentation Head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6142" y="2320861"/>
            <a:ext cx="73038" cy="571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5"/>
              </a:lnSpc>
            </a:pPr>
            <a:r>
              <a:rPr lang="en-US" sz="2006" spc="-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2506" y="2530411"/>
            <a:ext cx="6383198" cy="141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006" spc="-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</a:t>
            </a:r>
            <a:r>
              <a:rPr lang="en-US" sz="2006" spc="-3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006" spc="-3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DINOv2?</a:t>
            </a:r>
          </a:p>
          <a:p>
            <a:pPr algn="l">
              <a:lnSpc>
                <a:spcPts val="2300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We selected DINOv2 (Vision Transformer)as our backbone architecture, leveraging its self-supervised pretraining for superior feature extraction.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1761" y="5333171"/>
            <a:ext cx="3642370" cy="418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006" spc="-14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Strong Visual Representations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10577" y="5789657"/>
            <a:ext cx="56350" cy="36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54653" y="5333171"/>
            <a:ext cx="2535669" cy="418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006" spc="20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Better Generalization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4630" y="5789657"/>
            <a:ext cx="56350" cy="36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20000" y="2530411"/>
            <a:ext cx="6282957" cy="2322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006" spc="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Architecture Components</a:t>
            </a:r>
          </a:p>
          <a:p>
            <a:pPr algn="l">
              <a:lnSpc>
                <a:spcPts val="2292"/>
              </a:lnSpc>
            </a:pPr>
            <a:r>
              <a:rPr lang="en-US" sz="1547" spc="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Backbone:DINOv2 Vision Transformer for hierarchical feature extraction</a:t>
            </a:r>
          </a:p>
          <a:p>
            <a:pPr algn="l">
              <a:lnSpc>
                <a:spcPts val="3869"/>
              </a:lnSpc>
            </a:pPr>
            <a:r>
              <a:rPr lang="en-US" sz="1547" spc="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Segmentation Head:Custom decoder for pixel-level classification </a:t>
            </a:r>
          </a:p>
          <a:p>
            <a:pPr algn="l">
              <a:lnSpc>
                <a:spcPts val="773"/>
              </a:lnSpc>
            </a:pPr>
            <a:r>
              <a:rPr lang="en-US" sz="1547" spc="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across multiple terrain classes</a:t>
            </a:r>
          </a:p>
          <a:p>
            <a:pPr algn="l">
              <a:lnSpc>
                <a:spcPts val="3869"/>
              </a:lnSpc>
            </a:pPr>
            <a:r>
              <a:rPr lang="en-US" sz="1547" spc="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Output:Dense semantic map with per-pixel class predictions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7974" y="5333171"/>
            <a:ext cx="1739836" cy="418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006" spc="8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Efficiency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59721" y="5789657"/>
            <a:ext cx="56350" cy="36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1761" y="5884907"/>
            <a:ext cx="3812096" cy="56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Self-supervised learning createsrobust features without manual labels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54653" y="5884907"/>
            <a:ext cx="3847128" cy="56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Pretrainedon diverse imagery improves performance on novel terrains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7974" y="5884907"/>
            <a:ext cx="3607098" cy="56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547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Works effectivelywith limited labeled training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45675" y="11723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94004" y="2685288"/>
            <a:ext cx="454152" cy="452628"/>
            <a:chOff x="0" y="0"/>
            <a:chExt cx="605536" cy="6035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5536" cy="603504"/>
            </a:xfrm>
            <a:custGeom>
              <a:avLst/>
              <a:gdLst/>
              <a:ahLst/>
              <a:cxnLst/>
              <a:rect l="l" t="t" r="r" b="b"/>
              <a:pathLst>
                <a:path w="605536" h="603504">
                  <a:moveTo>
                    <a:pt x="0" y="0"/>
                  </a:moveTo>
                  <a:lnTo>
                    <a:pt x="605536" y="0"/>
                  </a:lnTo>
                  <a:lnTo>
                    <a:pt x="605536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7456932" y="2685288"/>
            <a:ext cx="454152" cy="452628"/>
            <a:chOff x="0" y="0"/>
            <a:chExt cx="605536" cy="6035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5536" cy="603504"/>
            </a:xfrm>
            <a:custGeom>
              <a:avLst/>
              <a:gdLst/>
              <a:ahLst/>
              <a:cxnLst/>
              <a:rect l="l" t="t" r="r" b="b"/>
              <a:pathLst>
                <a:path w="605536" h="603504">
                  <a:moveTo>
                    <a:pt x="0" y="0"/>
                  </a:moveTo>
                  <a:lnTo>
                    <a:pt x="605536" y="0"/>
                  </a:lnTo>
                  <a:lnTo>
                    <a:pt x="605536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94004" y="4450080"/>
            <a:ext cx="454152" cy="454152"/>
            <a:chOff x="0" y="0"/>
            <a:chExt cx="605536" cy="605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5536" cy="605536"/>
            </a:xfrm>
            <a:custGeom>
              <a:avLst/>
              <a:gdLst/>
              <a:ahLst/>
              <a:cxnLst/>
              <a:rect l="l" t="t" r="r" b="b"/>
              <a:pathLst>
                <a:path w="605536" h="605536">
                  <a:moveTo>
                    <a:pt x="0" y="0"/>
                  </a:moveTo>
                  <a:lnTo>
                    <a:pt x="605536" y="0"/>
                  </a:lnTo>
                  <a:lnTo>
                    <a:pt x="605536" y="605536"/>
                  </a:lnTo>
                  <a:lnTo>
                    <a:pt x="0" y="605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7456932" y="4450080"/>
            <a:ext cx="454152" cy="454152"/>
            <a:chOff x="0" y="0"/>
            <a:chExt cx="605536" cy="6055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5536" cy="605536"/>
            </a:xfrm>
            <a:custGeom>
              <a:avLst/>
              <a:gdLst/>
              <a:ahLst/>
              <a:cxnLst/>
              <a:rect l="l" t="t" r="r" b="b"/>
              <a:pathLst>
                <a:path w="605536" h="605536">
                  <a:moveTo>
                    <a:pt x="0" y="0"/>
                  </a:moveTo>
                  <a:lnTo>
                    <a:pt x="605536" y="0"/>
                  </a:lnTo>
                  <a:lnTo>
                    <a:pt x="605536" y="605536"/>
                  </a:lnTo>
                  <a:lnTo>
                    <a:pt x="0" y="605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143000" y="819365"/>
            <a:ext cx="4726791" cy="81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8"/>
              </a:lnSpc>
            </a:pPr>
            <a:r>
              <a:rPr lang="en-US" sz="4656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Training Pipeline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0982" y="2697642"/>
            <a:ext cx="5773712" cy="1281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 b="1" i="1" dirty="0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Framework</a:t>
            </a:r>
          </a:p>
          <a:p>
            <a:pPr algn="l">
              <a:lnSpc>
                <a:spcPts val="2904"/>
              </a:lnSpc>
            </a:pPr>
            <a:r>
              <a:rPr lang="en-US" sz="1752" spc="8" dirty="0" err="1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PyTorch</a:t>
            </a:r>
            <a:r>
              <a:rPr lang="en-US" sz="1752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for flexible model development and efficient training workflows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94805" y="2697642"/>
            <a:ext cx="5814565" cy="1281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Environment</a:t>
            </a:r>
          </a:p>
          <a:p>
            <a:pPr algn="l">
              <a:lnSpc>
                <a:spcPts val="2904"/>
              </a:lnSpc>
            </a:pPr>
            <a:r>
              <a:rPr lang="en-US" sz="1752" spc="1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Anaconda for reproducible dependency management and environment isolation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30982" y="5021951"/>
            <a:ext cx="5592451" cy="71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CUDA-enabled GPU acceleration for efficient batch processing and training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94805" y="5021951"/>
            <a:ext cx="5153454" cy="71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Adam optimizer with adaptive learning rates for stable convergence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004" y="5869800"/>
            <a:ext cx="12340104" cy="84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0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End-to-end training was performed with continuous validation monitoring to track model performance and prevent </a:t>
            </a:r>
          </a:p>
          <a:p>
            <a:pPr algn="l">
              <a:lnSpc>
                <a:spcPts val="1427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overfitting throughout the learning process.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30982" y="4463044"/>
            <a:ext cx="1351045" cy="41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Hardware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94805" y="4463044"/>
            <a:ext cx="1358217" cy="41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Optimizer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5862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27453" y="1820161"/>
            <a:ext cx="4330189" cy="4206745"/>
          </a:xfrm>
          <a:custGeom>
            <a:avLst/>
            <a:gdLst/>
            <a:ahLst/>
            <a:cxnLst/>
            <a:rect l="l" t="t" r="r" b="b"/>
            <a:pathLst>
              <a:path w="4330189" h="4206745">
                <a:moveTo>
                  <a:pt x="0" y="0"/>
                </a:moveTo>
                <a:lnTo>
                  <a:pt x="4330189" y="0"/>
                </a:lnTo>
                <a:lnTo>
                  <a:pt x="4330189" y="4206745"/>
                </a:lnTo>
                <a:lnTo>
                  <a:pt x="0" y="4206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150101" y="1820161"/>
            <a:ext cx="4331713" cy="4206745"/>
          </a:xfrm>
          <a:custGeom>
            <a:avLst/>
            <a:gdLst/>
            <a:ahLst/>
            <a:cxnLst/>
            <a:rect l="l" t="t" r="r" b="b"/>
            <a:pathLst>
              <a:path w="4331713" h="4206745">
                <a:moveTo>
                  <a:pt x="0" y="0"/>
                </a:moveTo>
                <a:lnTo>
                  <a:pt x="4331713" y="0"/>
                </a:lnTo>
                <a:lnTo>
                  <a:pt x="4331713" y="4206745"/>
                </a:lnTo>
                <a:lnTo>
                  <a:pt x="0" y="42067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74273" y="1820161"/>
            <a:ext cx="4330189" cy="4206745"/>
          </a:xfrm>
          <a:custGeom>
            <a:avLst/>
            <a:gdLst/>
            <a:ahLst/>
            <a:cxnLst/>
            <a:rect l="l" t="t" r="r" b="b"/>
            <a:pathLst>
              <a:path w="4330189" h="4206745">
                <a:moveTo>
                  <a:pt x="0" y="0"/>
                </a:moveTo>
                <a:lnTo>
                  <a:pt x="4330189" y="0"/>
                </a:lnTo>
                <a:lnTo>
                  <a:pt x="4330189" y="4206745"/>
                </a:lnTo>
                <a:lnTo>
                  <a:pt x="0" y="42067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16152" y="2308860"/>
            <a:ext cx="304800" cy="306324"/>
            <a:chOff x="0" y="0"/>
            <a:chExt cx="406400" cy="4084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400" cy="408432"/>
            </a:xfrm>
            <a:custGeom>
              <a:avLst/>
              <a:gdLst/>
              <a:ahLst/>
              <a:cxnLst/>
              <a:rect l="l" t="t" r="r" b="b"/>
              <a:pathLst>
                <a:path w="406400" h="408432">
                  <a:moveTo>
                    <a:pt x="0" y="0"/>
                  </a:moveTo>
                  <a:lnTo>
                    <a:pt x="406400" y="0"/>
                  </a:lnTo>
                  <a:lnTo>
                    <a:pt x="406400" y="408432"/>
                  </a:lnTo>
                  <a:lnTo>
                    <a:pt x="0" y="408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638800" y="2308860"/>
            <a:ext cx="306324" cy="306324"/>
            <a:chOff x="0" y="0"/>
            <a:chExt cx="408432" cy="408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8432" cy="408432"/>
            </a:xfrm>
            <a:custGeom>
              <a:avLst/>
              <a:gdLst/>
              <a:ahLst/>
              <a:cxnLst/>
              <a:rect l="l" t="t" r="r" b="b"/>
              <a:pathLst>
                <a:path w="408432" h="408432">
                  <a:moveTo>
                    <a:pt x="0" y="0"/>
                  </a:moveTo>
                  <a:lnTo>
                    <a:pt x="408432" y="0"/>
                  </a:lnTo>
                  <a:lnTo>
                    <a:pt x="408432" y="408432"/>
                  </a:lnTo>
                  <a:lnTo>
                    <a:pt x="0" y="408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061448" y="2308860"/>
            <a:ext cx="306324" cy="306324"/>
            <a:chOff x="0" y="0"/>
            <a:chExt cx="408432" cy="408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8432" cy="408432"/>
            </a:xfrm>
            <a:custGeom>
              <a:avLst/>
              <a:gdLst/>
              <a:ahLst/>
              <a:cxnLst/>
              <a:rect l="l" t="t" r="r" b="b"/>
              <a:pathLst>
                <a:path w="408432" h="408432">
                  <a:moveTo>
                    <a:pt x="0" y="0"/>
                  </a:moveTo>
                  <a:lnTo>
                    <a:pt x="408432" y="0"/>
                  </a:lnTo>
                  <a:lnTo>
                    <a:pt x="408432" y="408432"/>
                  </a:lnTo>
                  <a:lnTo>
                    <a:pt x="0" y="408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794004" y="6213348"/>
            <a:ext cx="13042392" cy="1327404"/>
          </a:xfrm>
          <a:custGeom>
            <a:avLst/>
            <a:gdLst/>
            <a:ahLst/>
            <a:cxnLst/>
            <a:rect l="l" t="t" r="r" b="b"/>
            <a:pathLst>
              <a:path w="13042392" h="1327404">
                <a:moveTo>
                  <a:pt x="0" y="0"/>
                </a:moveTo>
                <a:lnTo>
                  <a:pt x="13042392" y="0"/>
                </a:lnTo>
                <a:lnTo>
                  <a:pt x="13042392" y="1327404"/>
                </a:lnTo>
                <a:lnTo>
                  <a:pt x="0" y="13274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21080" y="6557772"/>
            <a:ext cx="283464" cy="227076"/>
            <a:chOff x="0" y="0"/>
            <a:chExt cx="377952" cy="3027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7952" cy="302768"/>
            </a:xfrm>
            <a:custGeom>
              <a:avLst/>
              <a:gdLst/>
              <a:ahLst/>
              <a:cxnLst/>
              <a:rect l="l" t="t" r="r" b="b"/>
              <a:pathLst>
                <a:path w="377952" h="302768">
                  <a:moveTo>
                    <a:pt x="0" y="0"/>
                  </a:moveTo>
                  <a:lnTo>
                    <a:pt x="377952" y="0"/>
                  </a:lnTo>
                  <a:lnTo>
                    <a:pt x="377952" y="302768"/>
                  </a:lnTo>
                  <a:lnTo>
                    <a:pt x="0" y="302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75147" y="252622"/>
            <a:ext cx="5069977" cy="81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8"/>
              </a:lnSpc>
            </a:pPr>
            <a:r>
              <a:rPr lang="en-US" sz="4656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Evaluation Metrics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395" y="2992917"/>
            <a:ext cx="3762442" cy="272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04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Intersection over Union (IoU)</a:t>
            </a:r>
          </a:p>
          <a:p>
            <a:pPr algn="l">
              <a:lnSpc>
                <a:spcPts val="2456"/>
              </a:lnSpc>
            </a:pPr>
            <a:r>
              <a:rPr lang="en-US" sz="1754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Measures overlap between </a:t>
            </a:r>
          </a:p>
          <a:p>
            <a:pPr algn="l">
              <a:lnSpc>
                <a:spcPts val="2904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predicted and ground truth segmentation masks. Primary metric for assessing segmentation quality.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51986" y="2964342"/>
            <a:ext cx="3583829" cy="201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Dice Coefficient</a:t>
            </a:r>
          </a:p>
          <a:p>
            <a:pPr algn="l">
              <a:lnSpc>
                <a:spcPts val="2456"/>
              </a:lnSpc>
            </a:pPr>
            <a:r>
              <a:rPr lang="en-US" sz="1754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Evaluates similarity between </a:t>
            </a:r>
          </a:p>
          <a:p>
            <a:pPr algn="l">
              <a:lnSpc>
                <a:spcPts val="2896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prediction and groundtruth,with emphasis on pixel agreement. Ranges from 0 to 1.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75520" y="2964342"/>
            <a:ext cx="3677831" cy="201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Pixel Accuracy</a:t>
            </a:r>
          </a:p>
          <a:p>
            <a:pPr algn="l">
              <a:lnSpc>
                <a:spcPts val="2456"/>
              </a:lnSpc>
            </a:pPr>
            <a:r>
              <a:rPr lang="en-US" sz="1754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Percentage of correctly classified </a:t>
            </a:r>
          </a:p>
          <a:p>
            <a:pPr algn="l">
              <a:lnSpc>
                <a:spcPts val="2896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pixelsacrossthe entireimage. Provides overall classification performance.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30982" y="6530292"/>
            <a:ext cx="11568332" cy="665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spc="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IoU is the gold standardfor semantic segmentation evaluation, as it penalizes both false positives and false negatives equally.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7C7DD-6E64-EC3C-160E-376D7032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F0D95C-DE62-2196-0814-68EE7352D70A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201E20-F4EB-D2E1-9FBD-B12B4FDBA399}"/>
                </a:ext>
              </a:extLst>
            </p:cNvPr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ABA5294A-888A-FD78-9D10-2B6F7C05F52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11B6685-2EF2-3F43-CB22-0DB3D3F4097A}"/>
              </a:ext>
            </a:extLst>
          </p:cNvPr>
          <p:cNvSpPr txBox="1"/>
          <p:nvPr/>
        </p:nvSpPr>
        <p:spPr>
          <a:xfrm>
            <a:off x="650324" y="783963"/>
            <a:ext cx="11474196" cy="57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4656" spc="7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 Representation &amp; Graph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087EFE0-6BDC-77B8-10DC-E300B32E48CD}"/>
              </a:ext>
            </a:extLst>
          </p:cNvPr>
          <p:cNvSpPr txBox="1"/>
          <p:nvPr/>
        </p:nvSpPr>
        <p:spPr>
          <a:xfrm>
            <a:off x="3006300" y="2898229"/>
            <a:ext cx="83868" cy="64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2304" spc="-4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D5FC7FF-7EC0-F293-2E0E-4A1CD4F41260}"/>
              </a:ext>
            </a:extLst>
          </p:cNvPr>
          <p:cNvSpPr txBox="1"/>
          <p:nvPr/>
        </p:nvSpPr>
        <p:spPr>
          <a:xfrm>
            <a:off x="5973442" y="3136354"/>
            <a:ext cx="3544567" cy="36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754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569930-ABE9-052B-CC06-10998FBDD7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20591"/>
            <a:ext cx="12801600" cy="602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8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9F68A-812E-0213-2895-8D32AC66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9F377D3-9793-9DB8-1188-89A8BDCB4B9F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4B122BC-7EA5-0046-7799-B46171FCBFAD}"/>
                </a:ext>
              </a:extLst>
            </p:cNvPr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600DC115-BA99-D32D-99F5-38D8B4273E2D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484F9F-C492-6F9B-E34E-93EAB559E270}"/>
              </a:ext>
            </a:extLst>
          </p:cNvPr>
          <p:cNvSpPr txBox="1"/>
          <p:nvPr/>
        </p:nvSpPr>
        <p:spPr>
          <a:xfrm>
            <a:off x="650324" y="783963"/>
            <a:ext cx="11474196" cy="57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4656" spc="7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Sample Comparison: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519847-E3E5-C01B-31D0-D9638022DD21}"/>
              </a:ext>
            </a:extLst>
          </p:cNvPr>
          <p:cNvSpPr txBox="1"/>
          <p:nvPr/>
        </p:nvSpPr>
        <p:spPr>
          <a:xfrm>
            <a:off x="3006300" y="2898229"/>
            <a:ext cx="83868" cy="64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2304" spc="-4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6ED9719-5784-D70D-C748-44AD93531E58}"/>
              </a:ext>
            </a:extLst>
          </p:cNvPr>
          <p:cNvSpPr txBox="1"/>
          <p:nvPr/>
        </p:nvSpPr>
        <p:spPr>
          <a:xfrm>
            <a:off x="5973442" y="3136354"/>
            <a:ext cx="3544567" cy="36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754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399746-43D2-2C06-FB70-01C73A4249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3" y="2246530"/>
            <a:ext cx="13623433" cy="373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34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1194-E664-42D9-3537-B67B22027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46CDDA-9F27-C0AC-8DD4-7629E4CFD79A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1259A3-819C-B939-EBFF-788C22221FBE}"/>
                </a:ext>
              </a:extLst>
            </p:cNvPr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7CD7C25B-0D3A-567E-F549-B544EC0359DB}"/>
              </a:ext>
            </a:extLst>
          </p:cNvPr>
          <p:cNvSpPr/>
          <p:nvPr/>
        </p:nvSpPr>
        <p:spPr>
          <a:xfrm>
            <a:off x="-35169" y="11723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FE2701B-112E-2766-63B2-AA4CE4ADA751}"/>
              </a:ext>
            </a:extLst>
          </p:cNvPr>
          <p:cNvSpPr txBox="1"/>
          <p:nvPr/>
        </p:nvSpPr>
        <p:spPr>
          <a:xfrm>
            <a:off x="838200" y="381001"/>
            <a:ext cx="11286320" cy="57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4656" spc="7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Results: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39D7657-4B8E-3C05-4705-0611DBF1457B}"/>
              </a:ext>
            </a:extLst>
          </p:cNvPr>
          <p:cNvSpPr txBox="1"/>
          <p:nvPr/>
        </p:nvSpPr>
        <p:spPr>
          <a:xfrm>
            <a:off x="3006300" y="2898229"/>
            <a:ext cx="83868" cy="64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2304" spc="-4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C8EF31D-013B-C60D-5619-B20DA05CCAB7}"/>
              </a:ext>
            </a:extLst>
          </p:cNvPr>
          <p:cNvSpPr txBox="1"/>
          <p:nvPr/>
        </p:nvSpPr>
        <p:spPr>
          <a:xfrm>
            <a:off x="5973442" y="3136354"/>
            <a:ext cx="3544567" cy="36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754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CADC76-97DD-6047-5B74-9B752185C3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218" y="1358736"/>
            <a:ext cx="11021963" cy="666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0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4754A-3DEF-4BD3-DC7A-FB9AD05E7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096B94-1215-D0BB-6011-094EEA2A55D6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0C6895-629D-668E-280F-D0CCF118941F}"/>
                </a:ext>
              </a:extLst>
            </p:cNvPr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90245FE3-45CB-46EC-A45B-85A12B311D6C}"/>
              </a:ext>
            </a:extLst>
          </p:cNvPr>
          <p:cNvSpPr/>
          <p:nvPr/>
        </p:nvSpPr>
        <p:spPr>
          <a:xfrm>
            <a:off x="-35169" y="11723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2AFFC6B-631E-C633-806F-2E5521A4121C}"/>
              </a:ext>
            </a:extLst>
          </p:cNvPr>
          <p:cNvSpPr txBox="1"/>
          <p:nvPr/>
        </p:nvSpPr>
        <p:spPr>
          <a:xfrm>
            <a:off x="838200" y="381001"/>
            <a:ext cx="11286320" cy="57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4656" spc="7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 </a:t>
            </a:r>
            <a:r>
              <a:rPr lang="en-US" sz="4656" spc="79" dirty="0" err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IoU</a:t>
            </a:r>
            <a:r>
              <a:rPr lang="en-US" sz="4656" spc="7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Curves: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2990462-7BEB-2C94-2FB6-1D3070ECD11D}"/>
              </a:ext>
            </a:extLst>
          </p:cNvPr>
          <p:cNvSpPr txBox="1"/>
          <p:nvPr/>
        </p:nvSpPr>
        <p:spPr>
          <a:xfrm>
            <a:off x="3006300" y="2898229"/>
            <a:ext cx="83868" cy="64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2304" spc="-4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F5946AA-D0D5-72B5-6F64-03338537145A}"/>
              </a:ext>
            </a:extLst>
          </p:cNvPr>
          <p:cNvSpPr txBox="1"/>
          <p:nvPr/>
        </p:nvSpPr>
        <p:spPr>
          <a:xfrm>
            <a:off x="5973442" y="3136354"/>
            <a:ext cx="3544567" cy="36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754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B9E67-3D88-D14C-41CC-4649343E9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31" y="1981200"/>
            <a:ext cx="13438515" cy="559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70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828D-6E0F-383E-1EE4-3FDEC686A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5D457E-CD67-A79D-1E77-099359361173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23B764F-B727-543C-A89B-FC0057A0F278}"/>
                </a:ext>
              </a:extLst>
            </p:cNvPr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3F127CDB-B97A-46F0-4990-A13F5074EB10}"/>
              </a:ext>
            </a:extLst>
          </p:cNvPr>
          <p:cNvSpPr/>
          <p:nvPr/>
        </p:nvSpPr>
        <p:spPr>
          <a:xfrm>
            <a:off x="0" y="5862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D561B80-ACC3-2F5A-7EBC-CE7FA987F84F}"/>
              </a:ext>
            </a:extLst>
          </p:cNvPr>
          <p:cNvSpPr txBox="1"/>
          <p:nvPr/>
        </p:nvSpPr>
        <p:spPr>
          <a:xfrm>
            <a:off x="838200" y="381001"/>
            <a:ext cx="11286320" cy="57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4656" spc="7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Dice Curves: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8131730-8057-C802-329C-2B03D66B60F1}"/>
              </a:ext>
            </a:extLst>
          </p:cNvPr>
          <p:cNvSpPr txBox="1"/>
          <p:nvPr/>
        </p:nvSpPr>
        <p:spPr>
          <a:xfrm>
            <a:off x="3006300" y="2898229"/>
            <a:ext cx="83868" cy="64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2304" spc="-4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068C0B4-DB94-CFBD-EAC5-B1DAD022E2F0}"/>
              </a:ext>
            </a:extLst>
          </p:cNvPr>
          <p:cNvSpPr txBox="1"/>
          <p:nvPr/>
        </p:nvSpPr>
        <p:spPr>
          <a:xfrm>
            <a:off x="5973442" y="3136354"/>
            <a:ext cx="3544567" cy="36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754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CF6FE2-6D57-B354-2E87-3949700DAB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828795"/>
            <a:ext cx="11658611" cy="541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4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87DF-3FC7-55DE-9560-D5EEC22A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343B649-1B7A-4F1D-E470-BCEB6EC2F8C6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F34B8AF-8D14-DC34-86DE-B4D4C2066664}"/>
                </a:ext>
              </a:extLst>
            </p:cNvPr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6BF75215-0018-38A7-3C91-6C89AFEC1F12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DD7766A-D9BA-FEBC-4F5E-C21B8D81472F}"/>
              </a:ext>
            </a:extLst>
          </p:cNvPr>
          <p:cNvSpPr txBox="1"/>
          <p:nvPr/>
        </p:nvSpPr>
        <p:spPr>
          <a:xfrm>
            <a:off x="838200" y="381001"/>
            <a:ext cx="11286320" cy="574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4656" spc="7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Metric Curves: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34027DE-AFA6-1322-500A-399E2C93A19D}"/>
              </a:ext>
            </a:extLst>
          </p:cNvPr>
          <p:cNvSpPr txBox="1"/>
          <p:nvPr/>
        </p:nvSpPr>
        <p:spPr>
          <a:xfrm>
            <a:off x="3006300" y="2898229"/>
            <a:ext cx="83868" cy="64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2304" spc="-4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BC7FDF4-5DD2-0504-3437-7E58F20AE1C7}"/>
              </a:ext>
            </a:extLst>
          </p:cNvPr>
          <p:cNvSpPr txBox="1"/>
          <p:nvPr/>
        </p:nvSpPr>
        <p:spPr>
          <a:xfrm>
            <a:off x="5973442" y="3136354"/>
            <a:ext cx="3544567" cy="36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754" spc="8" dirty="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59FF3-4302-A2AE-3230-347CAF8618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119725"/>
            <a:ext cx="8792332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42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106168" y="1894332"/>
            <a:ext cx="2535936" cy="2535936"/>
            <a:chOff x="0" y="0"/>
            <a:chExt cx="3381248" cy="3381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81248" cy="3381248"/>
            </a:xfrm>
            <a:custGeom>
              <a:avLst/>
              <a:gdLst/>
              <a:ahLst/>
              <a:cxnLst/>
              <a:rect l="l" t="t" r="r" b="b"/>
              <a:pathLst>
                <a:path w="3381248" h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3381248"/>
                  </a:lnTo>
                  <a:lnTo>
                    <a:pt x="0" y="338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047232" y="1894332"/>
            <a:ext cx="2535936" cy="2535936"/>
            <a:chOff x="0" y="0"/>
            <a:chExt cx="3381248" cy="3381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81248" cy="3381248"/>
            </a:xfrm>
            <a:custGeom>
              <a:avLst/>
              <a:gdLst/>
              <a:ahLst/>
              <a:cxnLst/>
              <a:rect l="l" t="t" r="r" b="b"/>
              <a:pathLst>
                <a:path w="3381248" h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3381248"/>
                  </a:lnTo>
                  <a:lnTo>
                    <a:pt x="0" y="338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988296" y="1894332"/>
            <a:ext cx="2535936" cy="2535936"/>
            <a:chOff x="0" y="0"/>
            <a:chExt cx="3381248" cy="33812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81248" cy="3381248"/>
            </a:xfrm>
            <a:custGeom>
              <a:avLst/>
              <a:gdLst/>
              <a:ahLst/>
              <a:cxnLst/>
              <a:rect l="l" t="t" r="r" b="b"/>
              <a:pathLst>
                <a:path w="3381248" h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3381248"/>
                  </a:lnTo>
                  <a:lnTo>
                    <a:pt x="0" y="338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482595" y="801929"/>
            <a:ext cx="4208974" cy="81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3458" spc="3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Performance Results</a:t>
            </a:r>
          </a:p>
          <a:p>
            <a:pPr algn="l">
              <a:lnSpc>
                <a:spcPts val="4265"/>
              </a:lnSpc>
            </a:pPr>
            <a:r>
              <a:rPr lang="en-US" sz="1706" spc="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Validation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75486" y="2746086"/>
            <a:ext cx="801100" cy="58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-62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30%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07406" y="2746086"/>
            <a:ext cx="814778" cy="58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-62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44%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60910" y="2746086"/>
            <a:ext cx="795118" cy="58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-62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70%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23516" y="4499800"/>
            <a:ext cx="2346341" cy="663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1704" spc="-8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IoU</a:t>
            </a:r>
          </a:p>
          <a:p>
            <a:pPr algn="ctr">
              <a:lnSpc>
                <a:spcPts val="1814"/>
              </a:lnSpc>
            </a:pPr>
            <a:r>
              <a:rPr lang="en-US" sz="1296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IntersectionoverUnion score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43583" y="4861189"/>
            <a:ext cx="47177" cy="31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296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2595" y="5325675"/>
            <a:ext cx="11208429" cy="209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704" spc="2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 Set Generalization</a:t>
            </a:r>
          </a:p>
          <a:p>
            <a:pPr algn="l">
              <a:lnSpc>
                <a:spcPts val="1817"/>
              </a:lnSpc>
            </a:pPr>
            <a:r>
              <a:rPr lang="en-US" sz="1298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model was evaluated on completely unseen offroad terrain data to assess real-world performance.</a:t>
            </a:r>
          </a:p>
          <a:p>
            <a:pPr algn="l">
              <a:lnSpc>
                <a:spcPts val="2973"/>
              </a:lnSpc>
            </a:pPr>
            <a:r>
              <a:rPr lang="en-US" sz="1296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Test Mean IoU: 0.2248 While the test IoU is lower than validation, this demonstrates the model's ability to generalize beyond training data—a criticalrequirement for </a:t>
            </a:r>
          </a:p>
          <a:p>
            <a:pPr algn="l">
              <a:lnSpc>
                <a:spcPts val="819"/>
              </a:lnSpc>
            </a:pPr>
            <a:r>
              <a:rPr lang="en-US" sz="1296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deployment in diverse offroad environments.</a:t>
            </a:r>
          </a:p>
          <a:p>
            <a:pPr algn="l">
              <a:lnSpc>
                <a:spcPts val="3240"/>
              </a:lnSpc>
            </a:pPr>
            <a:r>
              <a:rPr lang="en-US" sz="1296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70% pixel accuracy on validation indicates strong overall classification performance across terrain classes.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0019" y="4499800"/>
            <a:ext cx="1083593" cy="34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704" spc="20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Dice Score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82592" y="4861189"/>
            <a:ext cx="47177" cy="31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296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47347" y="4499800"/>
            <a:ext cx="1434341" cy="34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704" spc="6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Pixel Accuracy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74781" y="4861189"/>
            <a:ext cx="47177" cy="31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296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7153" y="4937389"/>
            <a:ext cx="1850412" cy="23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296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Segmentation</a:t>
            </a:r>
            <a:r>
              <a:rPr lang="en-US" sz="1296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96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similarity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86698" y="4937389"/>
            <a:ext cx="1772517" cy="23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296" spc="6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Correctclassifications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27453" y="3078985"/>
            <a:ext cx="645157" cy="645157"/>
          </a:xfrm>
          <a:custGeom>
            <a:avLst/>
            <a:gdLst/>
            <a:ahLst/>
            <a:cxnLst/>
            <a:rect l="l" t="t" r="r" b="b"/>
            <a:pathLst>
              <a:path w="645157" h="645157">
                <a:moveTo>
                  <a:pt x="0" y="0"/>
                </a:moveTo>
                <a:lnTo>
                  <a:pt x="645157" y="0"/>
                </a:lnTo>
                <a:lnTo>
                  <a:pt x="645157" y="645157"/>
                </a:lnTo>
                <a:lnTo>
                  <a:pt x="0" y="6451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169913" y="3078985"/>
            <a:ext cx="643633" cy="645157"/>
          </a:xfrm>
          <a:custGeom>
            <a:avLst/>
            <a:gdLst/>
            <a:ahLst/>
            <a:cxnLst/>
            <a:rect l="l" t="t" r="r" b="b"/>
            <a:pathLst>
              <a:path w="643633" h="645157">
                <a:moveTo>
                  <a:pt x="0" y="0"/>
                </a:moveTo>
                <a:lnTo>
                  <a:pt x="643633" y="0"/>
                </a:lnTo>
                <a:lnTo>
                  <a:pt x="643633" y="645157"/>
                </a:lnTo>
                <a:lnTo>
                  <a:pt x="0" y="6451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610849" y="3078985"/>
            <a:ext cx="645157" cy="645157"/>
          </a:xfrm>
          <a:custGeom>
            <a:avLst/>
            <a:gdLst/>
            <a:ahLst/>
            <a:cxnLst/>
            <a:rect l="l" t="t" r="r" b="b"/>
            <a:pathLst>
              <a:path w="645157" h="645157">
                <a:moveTo>
                  <a:pt x="0" y="0"/>
                </a:moveTo>
                <a:lnTo>
                  <a:pt x="645157" y="0"/>
                </a:lnTo>
                <a:lnTo>
                  <a:pt x="645157" y="645157"/>
                </a:lnTo>
                <a:lnTo>
                  <a:pt x="0" y="6451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94004" y="1976304"/>
            <a:ext cx="5110991" cy="62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4656" spc="7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Achievements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06300" y="2898229"/>
            <a:ext cx="83868" cy="64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2304" spc="-4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30982" y="3136354"/>
            <a:ext cx="2670315" cy="40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 spc="-2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End-to-End</a:t>
            </a:r>
            <a:r>
              <a:rPr lang="en-US" sz="2304" spc="-2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304" spc="-23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Pipeline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73442" y="3136354"/>
            <a:ext cx="3544567" cy="275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 spc="4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Advanced Feature Learning</a:t>
            </a:r>
          </a:p>
          <a:p>
            <a:pPr algn="l">
              <a:lnSpc>
                <a:spcPts val="2897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DINOv2 backbone significantly improved feature extraction, enabling the model to capture complex terrain patterns without </a:t>
            </a:r>
          </a:p>
          <a:p>
            <a:pPr algn="l">
              <a:lnSpc>
                <a:spcPts val="2456"/>
              </a:lnSpc>
            </a:pPr>
            <a:r>
              <a:rPr lang="en-US" sz="1754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extensive</a:t>
            </a:r>
            <a:r>
              <a:rPr lang="en-US" sz="1754" spc="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54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manual</a:t>
            </a:r>
            <a:r>
              <a:rPr lang="en-US" sz="1754" spc="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54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engineering.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16283" y="3136354"/>
            <a:ext cx="3416475" cy="40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 spc="11">
                <a:solidFill>
                  <a:srgbClr val="272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Generalization Capability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0982" y="3717788"/>
            <a:ext cx="3546158" cy="181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Successfully built and validated a complete segmentation system from data preprocessing through model training to deployment-ready inference.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16283" y="4089902"/>
            <a:ext cx="3100416" cy="2186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1752" spc="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Demonstrated reasonable performance on unseen test data, validating the model's potential for real-world autonomous navigation applications.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-1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79704" y="2435352"/>
            <a:ext cx="8459724" cy="3806952"/>
            <a:chOff x="0" y="0"/>
            <a:chExt cx="11279632" cy="50759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79632" cy="5075936"/>
            </a:xfrm>
            <a:custGeom>
              <a:avLst/>
              <a:gdLst/>
              <a:ahLst/>
              <a:cxnLst/>
              <a:rect l="l" t="t" r="r" b="b"/>
              <a:pathLst>
                <a:path w="11279632" h="5075936">
                  <a:moveTo>
                    <a:pt x="0" y="0"/>
                  </a:moveTo>
                  <a:lnTo>
                    <a:pt x="0" y="5075936"/>
                  </a:lnTo>
                  <a:lnTo>
                    <a:pt x="11279632" y="5075936"/>
                  </a:lnTo>
                  <a:lnTo>
                    <a:pt x="11279632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534412" y="3630168"/>
            <a:ext cx="327660" cy="329184"/>
            <a:chOff x="0" y="0"/>
            <a:chExt cx="436880" cy="4389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6880" cy="438912"/>
            </a:xfrm>
            <a:custGeom>
              <a:avLst/>
              <a:gdLst/>
              <a:ahLst/>
              <a:cxnLst/>
              <a:rect l="l" t="t" r="r" b="b"/>
              <a:pathLst>
                <a:path w="436880" h="438912">
                  <a:moveTo>
                    <a:pt x="0" y="0"/>
                  </a:moveTo>
                  <a:lnTo>
                    <a:pt x="436880" y="0"/>
                  </a:lnTo>
                  <a:lnTo>
                    <a:pt x="436880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3998976" y="4826508"/>
            <a:ext cx="327660" cy="327660"/>
            <a:chOff x="0" y="0"/>
            <a:chExt cx="436880" cy="43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6880" cy="436880"/>
            </a:xfrm>
            <a:custGeom>
              <a:avLst/>
              <a:gdLst/>
              <a:ahLst/>
              <a:cxnLst/>
              <a:rect l="l" t="t" r="r" b="b"/>
              <a:pathLst>
                <a:path w="436880" h="436880">
                  <a:moveTo>
                    <a:pt x="0" y="0"/>
                  </a:moveTo>
                  <a:lnTo>
                    <a:pt x="436880" y="0"/>
                  </a:lnTo>
                  <a:lnTo>
                    <a:pt x="436880" y="436880"/>
                  </a:lnTo>
                  <a:lnTo>
                    <a:pt x="0" y="43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471160" y="3598164"/>
            <a:ext cx="327660" cy="327660"/>
            <a:chOff x="0" y="0"/>
            <a:chExt cx="436880" cy="4368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6880" cy="436880"/>
            </a:xfrm>
            <a:custGeom>
              <a:avLst/>
              <a:gdLst/>
              <a:ahLst/>
              <a:cxnLst/>
              <a:rect l="l" t="t" r="r" b="b"/>
              <a:pathLst>
                <a:path w="436880" h="436880">
                  <a:moveTo>
                    <a:pt x="0" y="0"/>
                  </a:moveTo>
                  <a:lnTo>
                    <a:pt x="436880" y="0"/>
                  </a:lnTo>
                  <a:lnTo>
                    <a:pt x="436880" y="436880"/>
                  </a:lnTo>
                  <a:lnTo>
                    <a:pt x="0" y="43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911340" y="4826508"/>
            <a:ext cx="327660" cy="327660"/>
            <a:chOff x="0" y="0"/>
            <a:chExt cx="436880" cy="436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6880" cy="436880"/>
            </a:xfrm>
            <a:custGeom>
              <a:avLst/>
              <a:gdLst/>
              <a:ahLst/>
              <a:cxnLst/>
              <a:rect l="l" t="t" r="r" b="b"/>
              <a:pathLst>
                <a:path w="436880" h="436880">
                  <a:moveTo>
                    <a:pt x="0" y="0"/>
                  </a:moveTo>
                  <a:lnTo>
                    <a:pt x="436880" y="0"/>
                  </a:lnTo>
                  <a:lnTo>
                    <a:pt x="436880" y="436880"/>
                  </a:lnTo>
                  <a:lnTo>
                    <a:pt x="0" y="43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80009" y="1004259"/>
            <a:ext cx="4122906" cy="68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7"/>
              </a:lnSpc>
            </a:pPr>
            <a:r>
              <a:rPr lang="en-US" sz="3998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Future Directions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56559" y="2372954"/>
            <a:ext cx="1543450" cy="73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03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Extended Training</a:t>
            </a:r>
          </a:p>
          <a:p>
            <a:pPr algn="ctr">
              <a:lnSpc>
                <a:spcPts val="1308"/>
              </a:lnSpc>
            </a:pPr>
            <a:r>
              <a:rPr lang="en-US" sz="1056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Trainlongertoimprove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78123" y="2812380"/>
            <a:ext cx="849630" cy="451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056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1308"/>
              </a:lnSpc>
            </a:pPr>
            <a:r>
              <a:rPr lang="en-US" sz="1056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convergence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50496" y="5218871"/>
            <a:ext cx="50644" cy="24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4"/>
              </a:lnSpc>
            </a:pPr>
            <a:r>
              <a:rPr lang="en-US" sz="1406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74666" y="5448005"/>
            <a:ext cx="1202007" cy="336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403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Augmentation</a:t>
            </a:r>
          </a:p>
          <a:p>
            <a:pPr algn="r">
              <a:lnSpc>
                <a:spcPts val="529"/>
              </a:lnSpc>
            </a:pP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Apply advanced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51219" y="2417150"/>
            <a:ext cx="1338596" cy="28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1"/>
              </a:lnSpc>
            </a:pPr>
            <a:r>
              <a:rPr lang="en-US" sz="1403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Class Balancing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09041" y="2710996"/>
            <a:ext cx="38529" cy="23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9"/>
              </a:lnSpc>
            </a:pP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50493" y="5218871"/>
            <a:ext cx="50644" cy="24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4"/>
              </a:lnSpc>
            </a:pPr>
            <a:r>
              <a:rPr lang="en-US" sz="1406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81874" y="5448005"/>
            <a:ext cx="1406585" cy="50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403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Deployment</a:t>
            </a:r>
          </a:p>
          <a:p>
            <a:pPr algn="ctr">
              <a:lnSpc>
                <a:spcPts val="1481"/>
              </a:lnSpc>
            </a:pP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Serve</a:t>
            </a:r>
            <a:r>
              <a:rPr lang="en-US" sz="1058" spc="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models</a:t>
            </a:r>
            <a:r>
              <a:rPr lang="en-US" sz="1058" spc="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with low-latency</a:t>
            </a:r>
            <a:r>
              <a:rPr lang="en-US" sz="1058" spc="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inference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54685" y="5693464"/>
            <a:ext cx="38529" cy="8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"/>
              </a:lnSpc>
            </a:pP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34458" y="5774398"/>
            <a:ext cx="1486548" cy="17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augmentations</a:t>
            </a:r>
            <a:r>
              <a:rPr lang="en-US" sz="1056" spc="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6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at</a:t>
            </a:r>
            <a:r>
              <a:rPr lang="en-US" sz="1056" spc="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6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scale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08191" y="2944330"/>
            <a:ext cx="1018842" cy="17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to fix imbalance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74335" y="5209346"/>
            <a:ext cx="388601" cy="25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406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Data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93151" y="5209346"/>
            <a:ext cx="777764" cy="25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406" b="1" i="1">
                <a:solidFill>
                  <a:srgbClr val="272525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Real-time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19215" y="2777671"/>
            <a:ext cx="1404366" cy="171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1"/>
              </a:lnSpc>
            </a:pP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Reweight</a:t>
            </a:r>
            <a:r>
              <a:rPr lang="en-US" sz="1058" spc="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or</a:t>
            </a:r>
            <a:r>
              <a:rPr lang="en-US" sz="1058" spc="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8" spc="5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resample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0009" y="6263659"/>
            <a:ext cx="7736205" cy="25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Clear pathway to production-ready performance through systematic enhancements.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22279" y="2625490"/>
            <a:ext cx="109395" cy="267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50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65436" y="2625490"/>
            <a:ext cx="4119372" cy="2604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50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Extended Training:Additional epochs to improve convergence and model capacity Advanced Augmentation:Enhanced data augmentation strategies for better robustness Class Imbalance:Weighted loss functions to handle underrepresented terrain classes Real-Time Inference:Model optimization for low-latency deployment on edge devices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22279" y="3199362"/>
            <a:ext cx="109576" cy="27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1502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22279" y="4085739"/>
            <a:ext cx="109395" cy="267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50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22279" y="4669431"/>
            <a:ext cx="109395" cy="267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50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22279" y="5518042"/>
            <a:ext cx="4282202" cy="1286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150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These improvements will bridge the gap </a:t>
            </a:r>
          </a:p>
          <a:p>
            <a:pPr algn="l">
              <a:lnSpc>
                <a:spcPts val="834"/>
              </a:lnSpc>
            </a:pPr>
            <a:r>
              <a:rPr lang="en-US" sz="150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between research prototype and production </a:t>
            </a:r>
          </a:p>
          <a:p>
            <a:pPr algn="l">
              <a:lnSpc>
                <a:spcPts val="3750"/>
              </a:lnSpc>
            </a:pPr>
            <a:r>
              <a:rPr lang="en-US" sz="150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deployment in autonomous offroad navigation </a:t>
            </a:r>
          </a:p>
          <a:p>
            <a:pPr algn="l">
              <a:lnSpc>
                <a:spcPts val="863"/>
              </a:lnSpc>
            </a:pPr>
            <a:r>
              <a:rPr lang="en-US" sz="1500" spc="7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systems.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25000" y="1250761"/>
            <a:ext cx="2801560" cy="34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006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Planned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797</Words>
  <Application>Microsoft Office PowerPoint</Application>
  <PresentationFormat>Custom</PresentationFormat>
  <Paragraphs>158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Open Sans</vt:lpstr>
      <vt:lpstr>IBM Plex Sans</vt:lpstr>
      <vt:lpstr>Arial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Offroad-Terrain-Segmentation-Using-Deep-Learning.pdf</dc:title>
  <dc:creator>Saunak Sharma</dc:creator>
  <cp:lastModifiedBy>Saunak Sharma</cp:lastModifiedBy>
  <cp:revision>2</cp:revision>
  <dcterms:created xsi:type="dcterms:W3CDTF">2006-08-16T00:00:00Z</dcterms:created>
  <dcterms:modified xsi:type="dcterms:W3CDTF">2026-02-03T18:22:49Z</dcterms:modified>
  <dc:identifier>DAHASTdJssI</dc:identifier>
</cp:coreProperties>
</file>